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2E0DF2-AB2B-43E4-8537-BF62C876EB52}" v="232" dt="2022-01-17T04:58:00.993"/>
    <p1510:client id="{CE470EF3-0316-4998-8878-1A7EC98DA56F}" v="27" dt="2022-01-18T09:07:14.084"/>
    <p1510:client id="{EAD00BD1-211E-4FC5-897F-E169A236F528}" v="481" dt="2022-01-17T05:18:57.7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A1D09A5-2E6B-47BD-97F9-9570A0727F82}"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5F02A853-2194-4DBA-94DC-E87793D4A71C}">
      <dgm:prSet/>
      <dgm:spPr/>
      <dgm:t>
        <a:bodyPr/>
        <a:lstStyle/>
        <a:p>
          <a:r>
            <a:rPr lang="de-DE"/>
            <a:t>•Ich habe das Spielkonzept des rundenbasierten Strategiespiels natürlich nicht erfunden. </a:t>
          </a:r>
          <a:endParaRPr lang="en-US"/>
        </a:p>
      </dgm:t>
    </dgm:pt>
    <dgm:pt modelId="{AC8EE339-9FE2-4AE5-86C8-D4AB0235A792}" type="parTrans" cxnId="{8542D77B-9964-4335-A860-923194011EA0}">
      <dgm:prSet/>
      <dgm:spPr/>
      <dgm:t>
        <a:bodyPr/>
        <a:lstStyle/>
        <a:p>
          <a:endParaRPr lang="en-US"/>
        </a:p>
      </dgm:t>
    </dgm:pt>
    <dgm:pt modelId="{F0F1CC07-DC42-4A34-8FFD-88B7DFF2CF69}" type="sibTrans" cxnId="{8542D77B-9964-4335-A860-923194011EA0}">
      <dgm:prSet/>
      <dgm:spPr/>
      <dgm:t>
        <a:bodyPr/>
        <a:lstStyle/>
        <a:p>
          <a:endParaRPr lang="en-US"/>
        </a:p>
      </dgm:t>
    </dgm:pt>
    <dgm:pt modelId="{A8BDEEB3-B045-446A-A57D-48AA3BC5B27D}">
      <dgm:prSet/>
      <dgm:spPr/>
      <dgm:t>
        <a:bodyPr/>
        <a:lstStyle/>
        <a:p>
          <a:r>
            <a:rPr lang="de-DE"/>
            <a:t>•Beispiele: Civ 6</a:t>
          </a:r>
          <a:endParaRPr lang="en-US"/>
        </a:p>
      </dgm:t>
    </dgm:pt>
    <dgm:pt modelId="{611DE33B-D4E4-4BFD-AAEC-27781962E60E}" type="parTrans" cxnId="{DCF96119-A1D0-4185-9749-AEBF3E53033F}">
      <dgm:prSet/>
      <dgm:spPr/>
      <dgm:t>
        <a:bodyPr/>
        <a:lstStyle/>
        <a:p>
          <a:endParaRPr lang="en-US"/>
        </a:p>
      </dgm:t>
    </dgm:pt>
    <dgm:pt modelId="{AB141F09-42F8-4A35-A77E-BB32EB70465A}" type="sibTrans" cxnId="{DCF96119-A1D0-4185-9749-AEBF3E53033F}">
      <dgm:prSet/>
      <dgm:spPr/>
      <dgm:t>
        <a:bodyPr/>
        <a:lstStyle/>
        <a:p>
          <a:endParaRPr lang="en-US"/>
        </a:p>
      </dgm:t>
    </dgm:pt>
    <dgm:pt modelId="{B5EE80BB-3A6F-4E07-A57C-A70BA392BC4E}">
      <dgm:prSet/>
      <dgm:spPr/>
      <dgm:t>
        <a:bodyPr/>
        <a:lstStyle/>
        <a:p>
          <a:r>
            <a:rPr lang="de-DE"/>
            <a:t>•Die Idee des Hauses das die Bevölkerungskapazität erhöht ist weit verbreitet unter Strategiespielen. </a:t>
          </a:r>
          <a:endParaRPr lang="en-US"/>
        </a:p>
      </dgm:t>
    </dgm:pt>
    <dgm:pt modelId="{86361CF0-6258-4639-89CF-1E9AC2B668FD}" type="parTrans" cxnId="{E50AB48B-27A8-43C0-A4E1-17615BA121AC}">
      <dgm:prSet/>
      <dgm:spPr/>
      <dgm:t>
        <a:bodyPr/>
        <a:lstStyle/>
        <a:p>
          <a:endParaRPr lang="en-US"/>
        </a:p>
      </dgm:t>
    </dgm:pt>
    <dgm:pt modelId="{33852914-6CBC-4FF0-966B-BACABA2E4723}" type="sibTrans" cxnId="{E50AB48B-27A8-43C0-A4E1-17615BA121AC}">
      <dgm:prSet/>
      <dgm:spPr/>
      <dgm:t>
        <a:bodyPr/>
        <a:lstStyle/>
        <a:p>
          <a:endParaRPr lang="en-US"/>
        </a:p>
      </dgm:t>
    </dgm:pt>
    <dgm:pt modelId="{20FDEAD4-9369-46BA-A99D-742542EEA4F4}">
      <dgm:prSet/>
      <dgm:spPr/>
      <dgm:t>
        <a:bodyPr/>
        <a:lstStyle/>
        <a:p>
          <a:r>
            <a:rPr lang="de-DE"/>
            <a:t>•Beispiele: Stronghold Crusader, Die Siedler, Banished etc.</a:t>
          </a:r>
          <a:endParaRPr lang="en-US"/>
        </a:p>
      </dgm:t>
    </dgm:pt>
    <dgm:pt modelId="{84F8601C-1821-4420-AB79-4E5B8F5076EE}" type="parTrans" cxnId="{1F0BBD78-5874-4F66-A899-439790DE2785}">
      <dgm:prSet/>
      <dgm:spPr/>
      <dgm:t>
        <a:bodyPr/>
        <a:lstStyle/>
        <a:p>
          <a:endParaRPr lang="en-US"/>
        </a:p>
      </dgm:t>
    </dgm:pt>
    <dgm:pt modelId="{7D19E18B-C353-4A8F-B2D9-B68135FA5D4D}" type="sibTrans" cxnId="{1F0BBD78-5874-4F66-A899-439790DE2785}">
      <dgm:prSet/>
      <dgm:spPr/>
      <dgm:t>
        <a:bodyPr/>
        <a:lstStyle/>
        <a:p>
          <a:endParaRPr lang="en-US"/>
        </a:p>
      </dgm:t>
    </dgm:pt>
    <dgm:pt modelId="{FE366BC5-CC32-4B46-A1A2-4E24198BF13F}" type="pres">
      <dgm:prSet presAssocID="{FA1D09A5-2E6B-47BD-97F9-9570A0727F82}" presName="vert0" presStyleCnt="0">
        <dgm:presLayoutVars>
          <dgm:dir/>
          <dgm:animOne val="branch"/>
          <dgm:animLvl val="lvl"/>
        </dgm:presLayoutVars>
      </dgm:prSet>
      <dgm:spPr/>
    </dgm:pt>
    <dgm:pt modelId="{19A2F04B-086C-4A46-BCBB-BF5F79212088}" type="pres">
      <dgm:prSet presAssocID="{5F02A853-2194-4DBA-94DC-E87793D4A71C}" presName="thickLine" presStyleLbl="alignNode1" presStyleIdx="0" presStyleCnt="4"/>
      <dgm:spPr/>
    </dgm:pt>
    <dgm:pt modelId="{39D4D081-6DDA-4294-8CB2-C5EFEA113316}" type="pres">
      <dgm:prSet presAssocID="{5F02A853-2194-4DBA-94DC-E87793D4A71C}" presName="horz1" presStyleCnt="0"/>
      <dgm:spPr/>
    </dgm:pt>
    <dgm:pt modelId="{216EDF23-87C1-4A31-AB40-493DFA007A66}" type="pres">
      <dgm:prSet presAssocID="{5F02A853-2194-4DBA-94DC-E87793D4A71C}" presName="tx1" presStyleLbl="revTx" presStyleIdx="0" presStyleCnt="4"/>
      <dgm:spPr/>
    </dgm:pt>
    <dgm:pt modelId="{811E0AAA-045E-4B8D-BF5F-CE8A893D4D72}" type="pres">
      <dgm:prSet presAssocID="{5F02A853-2194-4DBA-94DC-E87793D4A71C}" presName="vert1" presStyleCnt="0"/>
      <dgm:spPr/>
    </dgm:pt>
    <dgm:pt modelId="{1C5094AD-D5A9-4C40-8565-6D9DCE4CF760}" type="pres">
      <dgm:prSet presAssocID="{A8BDEEB3-B045-446A-A57D-48AA3BC5B27D}" presName="thickLine" presStyleLbl="alignNode1" presStyleIdx="1" presStyleCnt="4"/>
      <dgm:spPr/>
    </dgm:pt>
    <dgm:pt modelId="{F663FF63-C85B-475B-A68B-43AC602C914E}" type="pres">
      <dgm:prSet presAssocID="{A8BDEEB3-B045-446A-A57D-48AA3BC5B27D}" presName="horz1" presStyleCnt="0"/>
      <dgm:spPr/>
    </dgm:pt>
    <dgm:pt modelId="{960881D9-5B55-4523-8313-877FBBDD704A}" type="pres">
      <dgm:prSet presAssocID="{A8BDEEB3-B045-446A-A57D-48AA3BC5B27D}" presName="tx1" presStyleLbl="revTx" presStyleIdx="1" presStyleCnt="4"/>
      <dgm:spPr/>
    </dgm:pt>
    <dgm:pt modelId="{C9D9C544-5728-48CF-B1A8-1F7AA0760A04}" type="pres">
      <dgm:prSet presAssocID="{A8BDEEB3-B045-446A-A57D-48AA3BC5B27D}" presName="vert1" presStyleCnt="0"/>
      <dgm:spPr/>
    </dgm:pt>
    <dgm:pt modelId="{17D6A591-C372-4D97-8953-663D6B69CD06}" type="pres">
      <dgm:prSet presAssocID="{B5EE80BB-3A6F-4E07-A57C-A70BA392BC4E}" presName="thickLine" presStyleLbl="alignNode1" presStyleIdx="2" presStyleCnt="4"/>
      <dgm:spPr/>
    </dgm:pt>
    <dgm:pt modelId="{9C34AF5C-3436-4A68-BE0D-7B6E328AABE8}" type="pres">
      <dgm:prSet presAssocID="{B5EE80BB-3A6F-4E07-A57C-A70BA392BC4E}" presName="horz1" presStyleCnt="0"/>
      <dgm:spPr/>
    </dgm:pt>
    <dgm:pt modelId="{AB758401-083C-4685-BE67-699D1CF8B16A}" type="pres">
      <dgm:prSet presAssocID="{B5EE80BB-3A6F-4E07-A57C-A70BA392BC4E}" presName="tx1" presStyleLbl="revTx" presStyleIdx="2" presStyleCnt="4"/>
      <dgm:spPr/>
    </dgm:pt>
    <dgm:pt modelId="{0D731003-D5CA-4CBD-A1D1-AE85A95457D3}" type="pres">
      <dgm:prSet presAssocID="{B5EE80BB-3A6F-4E07-A57C-A70BA392BC4E}" presName="vert1" presStyleCnt="0"/>
      <dgm:spPr/>
    </dgm:pt>
    <dgm:pt modelId="{CC4922A8-92B3-437B-824F-64965A7149D3}" type="pres">
      <dgm:prSet presAssocID="{20FDEAD4-9369-46BA-A99D-742542EEA4F4}" presName="thickLine" presStyleLbl="alignNode1" presStyleIdx="3" presStyleCnt="4"/>
      <dgm:spPr/>
    </dgm:pt>
    <dgm:pt modelId="{1C04B7DD-509E-4BB6-9F46-30F4428B5767}" type="pres">
      <dgm:prSet presAssocID="{20FDEAD4-9369-46BA-A99D-742542EEA4F4}" presName="horz1" presStyleCnt="0"/>
      <dgm:spPr/>
    </dgm:pt>
    <dgm:pt modelId="{ADF99BBB-B30F-471A-92E7-8DA1E86156D4}" type="pres">
      <dgm:prSet presAssocID="{20FDEAD4-9369-46BA-A99D-742542EEA4F4}" presName="tx1" presStyleLbl="revTx" presStyleIdx="3" presStyleCnt="4"/>
      <dgm:spPr/>
    </dgm:pt>
    <dgm:pt modelId="{AD321D1B-9FA7-455D-A1CE-12A59CB06D12}" type="pres">
      <dgm:prSet presAssocID="{20FDEAD4-9369-46BA-A99D-742542EEA4F4}" presName="vert1" presStyleCnt="0"/>
      <dgm:spPr/>
    </dgm:pt>
  </dgm:ptLst>
  <dgm:cxnLst>
    <dgm:cxn modelId="{DCF96119-A1D0-4185-9749-AEBF3E53033F}" srcId="{FA1D09A5-2E6B-47BD-97F9-9570A0727F82}" destId="{A8BDEEB3-B045-446A-A57D-48AA3BC5B27D}" srcOrd="1" destOrd="0" parTransId="{611DE33B-D4E4-4BFD-AAEC-27781962E60E}" sibTransId="{AB141F09-42F8-4A35-A77E-BB32EB70465A}"/>
    <dgm:cxn modelId="{C2942332-AA00-47A6-BDC1-0A216FC0C061}" type="presOf" srcId="{20FDEAD4-9369-46BA-A99D-742542EEA4F4}" destId="{ADF99BBB-B30F-471A-92E7-8DA1E86156D4}" srcOrd="0" destOrd="0" presId="urn:microsoft.com/office/officeart/2008/layout/LinedList"/>
    <dgm:cxn modelId="{589B9135-FC04-4639-B54C-28AA59E71B9B}" type="presOf" srcId="{A8BDEEB3-B045-446A-A57D-48AA3BC5B27D}" destId="{960881D9-5B55-4523-8313-877FBBDD704A}" srcOrd="0" destOrd="0" presId="urn:microsoft.com/office/officeart/2008/layout/LinedList"/>
    <dgm:cxn modelId="{1F0BBD78-5874-4F66-A899-439790DE2785}" srcId="{FA1D09A5-2E6B-47BD-97F9-9570A0727F82}" destId="{20FDEAD4-9369-46BA-A99D-742542EEA4F4}" srcOrd="3" destOrd="0" parTransId="{84F8601C-1821-4420-AB79-4E5B8F5076EE}" sibTransId="{7D19E18B-C353-4A8F-B2D9-B68135FA5D4D}"/>
    <dgm:cxn modelId="{8542D77B-9964-4335-A860-923194011EA0}" srcId="{FA1D09A5-2E6B-47BD-97F9-9570A0727F82}" destId="{5F02A853-2194-4DBA-94DC-E87793D4A71C}" srcOrd="0" destOrd="0" parTransId="{AC8EE339-9FE2-4AE5-86C8-D4AB0235A792}" sibTransId="{F0F1CC07-DC42-4A34-8FFD-88B7DFF2CF69}"/>
    <dgm:cxn modelId="{E50AB48B-27A8-43C0-A4E1-17615BA121AC}" srcId="{FA1D09A5-2E6B-47BD-97F9-9570A0727F82}" destId="{B5EE80BB-3A6F-4E07-A57C-A70BA392BC4E}" srcOrd="2" destOrd="0" parTransId="{86361CF0-6258-4639-89CF-1E9AC2B668FD}" sibTransId="{33852914-6CBC-4FF0-966B-BACABA2E4723}"/>
    <dgm:cxn modelId="{CEE9E2B0-1A38-460D-B8C0-888C13C5B88D}" type="presOf" srcId="{FA1D09A5-2E6B-47BD-97F9-9570A0727F82}" destId="{FE366BC5-CC32-4B46-A1A2-4E24198BF13F}" srcOrd="0" destOrd="0" presId="urn:microsoft.com/office/officeart/2008/layout/LinedList"/>
    <dgm:cxn modelId="{73C056B4-45E5-4CC9-9C32-6E435B96B149}" type="presOf" srcId="{5F02A853-2194-4DBA-94DC-E87793D4A71C}" destId="{216EDF23-87C1-4A31-AB40-493DFA007A66}" srcOrd="0" destOrd="0" presId="urn:microsoft.com/office/officeart/2008/layout/LinedList"/>
    <dgm:cxn modelId="{F4EF4ED6-6E83-44C4-964E-44F5E1485949}" type="presOf" srcId="{B5EE80BB-3A6F-4E07-A57C-A70BA392BC4E}" destId="{AB758401-083C-4685-BE67-699D1CF8B16A}" srcOrd="0" destOrd="0" presId="urn:microsoft.com/office/officeart/2008/layout/LinedList"/>
    <dgm:cxn modelId="{8770B11A-A2B4-421A-B97F-A3BAAFDEB78E}" type="presParOf" srcId="{FE366BC5-CC32-4B46-A1A2-4E24198BF13F}" destId="{19A2F04B-086C-4A46-BCBB-BF5F79212088}" srcOrd="0" destOrd="0" presId="urn:microsoft.com/office/officeart/2008/layout/LinedList"/>
    <dgm:cxn modelId="{CCF0C7F5-7F37-4F8D-95FC-25EED2D9E9CA}" type="presParOf" srcId="{FE366BC5-CC32-4B46-A1A2-4E24198BF13F}" destId="{39D4D081-6DDA-4294-8CB2-C5EFEA113316}" srcOrd="1" destOrd="0" presId="urn:microsoft.com/office/officeart/2008/layout/LinedList"/>
    <dgm:cxn modelId="{99BDE2DC-C84C-4DEB-8AB5-5BCE76AD344D}" type="presParOf" srcId="{39D4D081-6DDA-4294-8CB2-C5EFEA113316}" destId="{216EDF23-87C1-4A31-AB40-493DFA007A66}" srcOrd="0" destOrd="0" presId="urn:microsoft.com/office/officeart/2008/layout/LinedList"/>
    <dgm:cxn modelId="{CF12069E-4D9F-483F-BA30-F63DCECAB6D0}" type="presParOf" srcId="{39D4D081-6DDA-4294-8CB2-C5EFEA113316}" destId="{811E0AAA-045E-4B8D-BF5F-CE8A893D4D72}" srcOrd="1" destOrd="0" presId="urn:microsoft.com/office/officeart/2008/layout/LinedList"/>
    <dgm:cxn modelId="{A5E30552-41BD-4E94-BE91-92C66858785B}" type="presParOf" srcId="{FE366BC5-CC32-4B46-A1A2-4E24198BF13F}" destId="{1C5094AD-D5A9-4C40-8565-6D9DCE4CF760}" srcOrd="2" destOrd="0" presId="urn:microsoft.com/office/officeart/2008/layout/LinedList"/>
    <dgm:cxn modelId="{08BC4764-9353-4ADD-A63E-FDDA11D07AD6}" type="presParOf" srcId="{FE366BC5-CC32-4B46-A1A2-4E24198BF13F}" destId="{F663FF63-C85B-475B-A68B-43AC602C914E}" srcOrd="3" destOrd="0" presId="urn:microsoft.com/office/officeart/2008/layout/LinedList"/>
    <dgm:cxn modelId="{104D90C3-14B1-4B09-95BC-CB9A73453F95}" type="presParOf" srcId="{F663FF63-C85B-475B-A68B-43AC602C914E}" destId="{960881D9-5B55-4523-8313-877FBBDD704A}" srcOrd="0" destOrd="0" presId="urn:microsoft.com/office/officeart/2008/layout/LinedList"/>
    <dgm:cxn modelId="{ED1DF113-F4D7-43C9-8713-C6F548955669}" type="presParOf" srcId="{F663FF63-C85B-475B-A68B-43AC602C914E}" destId="{C9D9C544-5728-48CF-B1A8-1F7AA0760A04}" srcOrd="1" destOrd="0" presId="urn:microsoft.com/office/officeart/2008/layout/LinedList"/>
    <dgm:cxn modelId="{991A19D9-8B6C-42FE-BF99-20ED68409FB9}" type="presParOf" srcId="{FE366BC5-CC32-4B46-A1A2-4E24198BF13F}" destId="{17D6A591-C372-4D97-8953-663D6B69CD06}" srcOrd="4" destOrd="0" presId="urn:microsoft.com/office/officeart/2008/layout/LinedList"/>
    <dgm:cxn modelId="{A6D1EA49-E17A-441A-BCA2-C1A73EFFA643}" type="presParOf" srcId="{FE366BC5-CC32-4B46-A1A2-4E24198BF13F}" destId="{9C34AF5C-3436-4A68-BE0D-7B6E328AABE8}" srcOrd="5" destOrd="0" presId="urn:microsoft.com/office/officeart/2008/layout/LinedList"/>
    <dgm:cxn modelId="{8A95A9DB-589D-44AE-870F-BD6AEF9D489C}" type="presParOf" srcId="{9C34AF5C-3436-4A68-BE0D-7B6E328AABE8}" destId="{AB758401-083C-4685-BE67-699D1CF8B16A}" srcOrd="0" destOrd="0" presId="urn:microsoft.com/office/officeart/2008/layout/LinedList"/>
    <dgm:cxn modelId="{800ED48A-C59B-493C-B7FC-CAE451A7713A}" type="presParOf" srcId="{9C34AF5C-3436-4A68-BE0D-7B6E328AABE8}" destId="{0D731003-D5CA-4CBD-A1D1-AE85A95457D3}" srcOrd="1" destOrd="0" presId="urn:microsoft.com/office/officeart/2008/layout/LinedList"/>
    <dgm:cxn modelId="{CC9FFE06-1737-44FF-89A0-EA62506B3529}" type="presParOf" srcId="{FE366BC5-CC32-4B46-A1A2-4E24198BF13F}" destId="{CC4922A8-92B3-437B-824F-64965A7149D3}" srcOrd="6" destOrd="0" presId="urn:microsoft.com/office/officeart/2008/layout/LinedList"/>
    <dgm:cxn modelId="{0ECAD947-E1CE-42DD-9C86-D6DD1486EBED}" type="presParOf" srcId="{FE366BC5-CC32-4B46-A1A2-4E24198BF13F}" destId="{1C04B7DD-509E-4BB6-9F46-30F4428B5767}" srcOrd="7" destOrd="0" presId="urn:microsoft.com/office/officeart/2008/layout/LinedList"/>
    <dgm:cxn modelId="{B2978809-2EC7-4F41-B210-54CF251B0471}" type="presParOf" srcId="{1C04B7DD-509E-4BB6-9F46-30F4428B5767}" destId="{ADF99BBB-B30F-471A-92E7-8DA1E86156D4}" srcOrd="0" destOrd="0" presId="urn:microsoft.com/office/officeart/2008/layout/LinedList"/>
    <dgm:cxn modelId="{E5A5759F-F877-4DD8-8847-A4BE40512D92}" type="presParOf" srcId="{1C04B7DD-509E-4BB6-9F46-30F4428B5767}" destId="{AD321D1B-9FA7-455D-A1CE-12A59CB06D1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A2F04B-086C-4A46-BCBB-BF5F79212088}">
      <dsp:nvSpPr>
        <dsp:cNvPr id="0" name=""/>
        <dsp:cNvSpPr/>
      </dsp:nvSpPr>
      <dsp:spPr>
        <a:xfrm>
          <a:off x="0" y="0"/>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16EDF23-87C1-4A31-AB40-493DFA007A66}">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de-DE" sz="2700" kern="1200"/>
            <a:t>•Ich habe das Spielkonzept des rundenbasierten Strategiespiels natürlich nicht erfunden. </a:t>
          </a:r>
          <a:endParaRPr lang="en-US" sz="2700" kern="1200"/>
        </a:p>
      </dsp:txBody>
      <dsp:txXfrm>
        <a:off x="0" y="0"/>
        <a:ext cx="6900512" cy="1384035"/>
      </dsp:txXfrm>
    </dsp:sp>
    <dsp:sp modelId="{1C5094AD-D5A9-4C40-8565-6D9DCE4CF760}">
      <dsp:nvSpPr>
        <dsp:cNvPr id="0" name=""/>
        <dsp:cNvSpPr/>
      </dsp:nvSpPr>
      <dsp:spPr>
        <a:xfrm>
          <a:off x="0" y="1384035"/>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0881D9-5B55-4523-8313-877FBBDD704A}">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de-DE" sz="2700" kern="1200"/>
            <a:t>•Beispiele: Civ 6</a:t>
          </a:r>
          <a:endParaRPr lang="en-US" sz="2700" kern="1200"/>
        </a:p>
      </dsp:txBody>
      <dsp:txXfrm>
        <a:off x="0" y="1384035"/>
        <a:ext cx="6900512" cy="1384035"/>
      </dsp:txXfrm>
    </dsp:sp>
    <dsp:sp modelId="{17D6A591-C372-4D97-8953-663D6B69CD06}">
      <dsp:nvSpPr>
        <dsp:cNvPr id="0" name=""/>
        <dsp:cNvSpPr/>
      </dsp:nvSpPr>
      <dsp:spPr>
        <a:xfrm>
          <a:off x="0" y="2768070"/>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758401-083C-4685-BE67-699D1CF8B16A}">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de-DE" sz="2700" kern="1200"/>
            <a:t>•Die Idee des Hauses das die Bevölkerungskapazität erhöht ist weit verbreitet unter Strategiespielen. </a:t>
          </a:r>
          <a:endParaRPr lang="en-US" sz="2700" kern="1200"/>
        </a:p>
      </dsp:txBody>
      <dsp:txXfrm>
        <a:off x="0" y="2768070"/>
        <a:ext cx="6900512" cy="1384035"/>
      </dsp:txXfrm>
    </dsp:sp>
    <dsp:sp modelId="{CC4922A8-92B3-437B-824F-64965A7149D3}">
      <dsp:nvSpPr>
        <dsp:cNvPr id="0" name=""/>
        <dsp:cNvSpPr/>
      </dsp:nvSpPr>
      <dsp:spPr>
        <a:xfrm>
          <a:off x="0" y="4152105"/>
          <a:ext cx="6900512"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F99BBB-B30F-471A-92E7-8DA1E86156D4}">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de-DE" sz="2700" kern="1200"/>
            <a:t>•Beispiele: Stronghold Crusader, Die Siedler, Banished etc.</a:t>
          </a:r>
          <a:endParaRPr lang="en-US" sz="2700" kern="1200"/>
        </a:p>
      </dsp:txBody>
      <dsp:txXfrm>
        <a:off x="0" y="4152105"/>
        <a:ext cx="6900512" cy="13840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D3EB3054-B75A-4BD7-8B3E-8DC0F614FAF3}" type="datetimeFigureOut">
              <a:rPr lang="de-DE" smtClean="0"/>
              <a:t>18.01.2022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4043166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D3EB3054-B75A-4BD7-8B3E-8DC0F614FAF3}" type="datetimeFigureOut">
              <a:rPr lang="de-DE" smtClean="0"/>
              <a:t>18.01.2022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3433200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Textmasterformat bearbeiten</a:t>
            </a:r>
          </a:p>
        </p:txBody>
      </p:sp>
      <p:sp>
        <p:nvSpPr>
          <p:cNvPr id="4" name="Datumsplatzhalter 3"/>
          <p:cNvSpPr>
            <a:spLocks noGrp="1"/>
          </p:cNvSpPr>
          <p:nvPr>
            <p:ph type="dt" sz="half" idx="10"/>
          </p:nvPr>
        </p:nvSpPr>
        <p:spPr/>
        <p:txBody>
          <a:bodyPr/>
          <a:lstStyle/>
          <a:p>
            <a:fld id="{D3EB3054-B75A-4BD7-8B3E-8DC0F614FAF3}" type="datetimeFigureOut">
              <a:rPr lang="de-DE" smtClean="0"/>
              <a:t>18.01.2022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283558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D3EB3054-B75A-4BD7-8B3E-8DC0F614FAF3}" type="datetimeFigureOut">
              <a:rPr lang="de-DE" smtClean="0"/>
              <a:t>18.01.2022</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742901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4" name="Inhaltsplatzhalter 3"/>
          <p:cNvSpPr>
            <a:spLocks noGrp="1"/>
          </p:cNvSpPr>
          <p:nvPr>
            <p:ph sz="half" idx="2"/>
          </p:nvPr>
        </p:nvSpPr>
        <p:spPr>
          <a:xfrm>
            <a:off x="839788" y="2505075"/>
            <a:ext cx="5157787"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Textmasterformat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D3EB3054-B75A-4BD7-8B3E-8DC0F614FAF3}" type="datetimeFigureOut">
              <a:rPr lang="de-DE" smtClean="0"/>
              <a:t>18.01.2022</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2024084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D3EB3054-B75A-4BD7-8B3E-8DC0F614FAF3}" type="datetimeFigureOut">
              <a:rPr lang="de-DE" smtClean="0"/>
              <a:t>18.01.2022</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2440206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D3EB3054-B75A-4BD7-8B3E-8DC0F614FAF3}" type="datetimeFigureOut">
              <a:rPr lang="de-DE" smtClean="0"/>
              <a:t>18.01.2022</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3087692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D3EB3054-B75A-4BD7-8B3E-8DC0F614FAF3}" type="datetimeFigureOut">
              <a:rPr lang="de-DE" smtClean="0"/>
              <a:t>18.01.2022</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3453883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5" name="Datumsplatzhalter 4"/>
          <p:cNvSpPr>
            <a:spLocks noGrp="1"/>
          </p:cNvSpPr>
          <p:nvPr>
            <p:ph type="dt" sz="half" idx="10"/>
          </p:nvPr>
        </p:nvSpPr>
        <p:spPr/>
        <p:txBody>
          <a:bodyPr/>
          <a:lstStyle/>
          <a:p>
            <a:fld id="{D3EB3054-B75A-4BD7-8B3E-8DC0F614FAF3}" type="datetimeFigureOut">
              <a:rPr lang="de-DE" smtClean="0"/>
              <a:t>18.01.2022</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2509888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D3EB3054-B75A-4BD7-8B3E-8DC0F614FAF3}" type="datetimeFigureOut">
              <a:rPr lang="de-DE" smtClean="0"/>
              <a:t>18.01.2022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1699206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D3EB3054-B75A-4BD7-8B3E-8DC0F614FAF3}" type="datetimeFigureOut">
              <a:rPr lang="de-DE" smtClean="0"/>
              <a:t>18.01.2022</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802006FE-6571-4354-8775-F8708372C227}" type="slidenum">
              <a:rPr lang="de-DE" smtClean="0"/>
              <a:t>‹Nr.›</a:t>
            </a:fld>
            <a:endParaRPr lang="de-DE"/>
          </a:p>
        </p:txBody>
      </p:sp>
    </p:spTree>
    <p:extLst>
      <p:ext uri="{BB962C8B-B14F-4D97-AF65-F5344CB8AC3E}">
        <p14:creationId xmlns:p14="http://schemas.microsoft.com/office/powerpoint/2010/main" val="2809958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EB3054-B75A-4BD7-8B3E-8DC0F614FAF3}" type="datetimeFigureOut">
              <a:rPr lang="de-DE" smtClean="0"/>
              <a:t>18.01.2022</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2006FE-6571-4354-8775-F8708372C227}" type="slidenum">
              <a:rPr lang="de-DE" smtClean="0"/>
              <a:t>‹Nr.›</a:t>
            </a:fld>
            <a:endParaRPr lang="de-DE"/>
          </a:p>
        </p:txBody>
      </p:sp>
    </p:spTree>
    <p:extLst>
      <p:ext uri="{BB962C8B-B14F-4D97-AF65-F5344CB8AC3E}">
        <p14:creationId xmlns:p14="http://schemas.microsoft.com/office/powerpoint/2010/main" val="594725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132326"/>
          </a:xfrm>
        </p:spPr>
        <p:txBody>
          <a:bodyPr>
            <a:normAutofit fontScale="90000"/>
          </a:bodyPr>
          <a:lstStyle/>
          <a:p>
            <a:r>
              <a:rPr lang="de-DE" u="sng">
                <a:cs typeface="Calibri Light"/>
              </a:rPr>
              <a:t>Nuklear Strike</a:t>
            </a:r>
            <a:endParaRPr lang="de-DE" u="sng"/>
          </a:p>
        </p:txBody>
      </p:sp>
      <p:sp>
        <p:nvSpPr>
          <p:cNvPr id="3" name="Untertitel 2"/>
          <p:cNvSpPr>
            <a:spLocks noGrp="1"/>
          </p:cNvSpPr>
          <p:nvPr>
            <p:ph type="subTitle" idx="1"/>
          </p:nvPr>
        </p:nvSpPr>
        <p:spPr/>
        <p:txBody>
          <a:bodyPr vert="horz" lIns="91440" tIns="45720" rIns="91440" bIns="45720" rtlCol="0" anchor="t">
            <a:normAutofit/>
          </a:bodyPr>
          <a:lstStyle/>
          <a:p>
            <a:r>
              <a:rPr lang="de-DE">
                <a:cs typeface="Calibri"/>
              </a:rPr>
              <a:t>Ein rundenbasiertes Strategiespiel basierend auf </a:t>
            </a:r>
            <a:r>
              <a:rPr lang="de-DE" err="1">
                <a:cs typeface="Calibri"/>
              </a:rPr>
              <a:t>Javascript</a:t>
            </a:r>
          </a:p>
          <a:p>
            <a:r>
              <a:rPr lang="de-DE">
                <a:cs typeface="Calibri"/>
              </a:rPr>
              <a:t> von Tilo von Eschwege</a:t>
            </a:r>
          </a:p>
        </p:txBody>
      </p:sp>
    </p:spTree>
    <p:extLst>
      <p:ext uri="{BB962C8B-B14F-4D97-AF65-F5344CB8AC3E}">
        <p14:creationId xmlns:p14="http://schemas.microsoft.com/office/powerpoint/2010/main" val="1577499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4">
            <a:extLst>
              <a:ext uri="{FF2B5EF4-FFF2-40B4-BE49-F238E27FC236}">
                <a16:creationId xmlns:a16="http://schemas.microsoft.com/office/drawing/2014/main" id="{D2B783EE-0239-4717-BBEA-8C9EAC61C8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B41E3BDE-7EE9-4725-8C06-B55C3744CFC2}"/>
              </a:ext>
            </a:extLst>
          </p:cNvPr>
          <p:cNvSpPr>
            <a:spLocks noGrp="1"/>
          </p:cNvSpPr>
          <p:nvPr>
            <p:ph type="title"/>
          </p:nvPr>
        </p:nvSpPr>
        <p:spPr>
          <a:xfrm>
            <a:off x="838201" y="345810"/>
            <a:ext cx="5120561" cy="1325563"/>
          </a:xfrm>
        </p:spPr>
        <p:txBody>
          <a:bodyPr>
            <a:normAutofit/>
          </a:bodyPr>
          <a:lstStyle/>
          <a:p>
            <a:r>
              <a:rPr lang="de-DE" u="sng" err="1">
                <a:cs typeface="Calibri Light"/>
              </a:rPr>
              <a:t>Mapdesign</a:t>
            </a:r>
            <a:endParaRPr lang="de-DE" u="sng">
              <a:cs typeface="Calibri Light"/>
            </a:endParaRPr>
          </a:p>
        </p:txBody>
      </p:sp>
      <p:sp>
        <p:nvSpPr>
          <p:cNvPr id="8" name="Content Placeholder 7">
            <a:extLst>
              <a:ext uri="{FF2B5EF4-FFF2-40B4-BE49-F238E27FC236}">
                <a16:creationId xmlns:a16="http://schemas.microsoft.com/office/drawing/2014/main" id="{5F8BB774-E563-44A7-8270-2868A643D03B}"/>
              </a:ext>
            </a:extLst>
          </p:cNvPr>
          <p:cNvSpPr>
            <a:spLocks noGrp="1"/>
          </p:cNvSpPr>
          <p:nvPr>
            <p:ph idx="1"/>
          </p:nvPr>
        </p:nvSpPr>
        <p:spPr>
          <a:xfrm>
            <a:off x="838201" y="1825625"/>
            <a:ext cx="5092194" cy="4351338"/>
          </a:xfrm>
        </p:spPr>
        <p:txBody>
          <a:bodyPr vert="horz" lIns="91440" tIns="45720" rIns="91440" bIns="45720" rtlCol="0" anchor="t">
            <a:normAutofit/>
          </a:bodyPr>
          <a:lstStyle/>
          <a:p>
            <a:r>
              <a:rPr lang="en-US">
                <a:cs typeface="Calibri"/>
              </a:rPr>
              <a:t>4 </a:t>
            </a:r>
            <a:r>
              <a:rPr lang="en-US" err="1">
                <a:cs typeface="Calibri"/>
              </a:rPr>
              <a:t>Rechtecke</a:t>
            </a:r>
            <a:r>
              <a:rPr lang="en-US">
                <a:cs typeface="Calibri"/>
              </a:rPr>
              <a:t>, die </a:t>
            </a:r>
            <a:r>
              <a:rPr lang="en-US" err="1">
                <a:cs typeface="Calibri"/>
              </a:rPr>
              <a:t>aus</a:t>
            </a:r>
            <a:r>
              <a:rPr lang="en-US">
                <a:cs typeface="Calibri"/>
              </a:rPr>
              <a:t> 4 </a:t>
            </a:r>
            <a:r>
              <a:rPr lang="en-US" err="1">
                <a:cs typeface="Calibri"/>
              </a:rPr>
              <a:t>Dreiecken</a:t>
            </a:r>
            <a:r>
              <a:rPr lang="en-US">
                <a:cs typeface="Calibri"/>
              </a:rPr>
              <a:t> </a:t>
            </a:r>
            <a:r>
              <a:rPr lang="en-US" err="1">
                <a:cs typeface="Calibri"/>
              </a:rPr>
              <a:t>bestehen</a:t>
            </a:r>
            <a:endParaRPr lang="en-US">
              <a:cs typeface="Calibri"/>
            </a:endParaRPr>
          </a:p>
          <a:p>
            <a:r>
              <a:rPr lang="en-US">
                <a:cs typeface="Calibri"/>
              </a:rPr>
              <a:t>19 </a:t>
            </a:r>
            <a:r>
              <a:rPr lang="en-US" err="1">
                <a:cs typeface="Calibri"/>
              </a:rPr>
              <a:t>Sechsecke</a:t>
            </a:r>
            <a:r>
              <a:rPr lang="en-US">
                <a:cs typeface="Calibri"/>
              </a:rPr>
              <a:t> </a:t>
            </a:r>
            <a:r>
              <a:rPr lang="en-US" err="1">
                <a:cs typeface="Calibri"/>
              </a:rPr>
              <a:t>bilden</a:t>
            </a:r>
            <a:r>
              <a:rPr lang="en-US">
                <a:cs typeface="Calibri"/>
              </a:rPr>
              <a:t> </a:t>
            </a:r>
            <a:r>
              <a:rPr lang="en-US" err="1">
                <a:cs typeface="Calibri"/>
              </a:rPr>
              <a:t>ein</a:t>
            </a:r>
            <a:r>
              <a:rPr lang="en-US">
                <a:cs typeface="Calibri"/>
              </a:rPr>
              <a:t> </a:t>
            </a:r>
            <a:r>
              <a:rPr lang="en-US" err="1">
                <a:cs typeface="Calibri"/>
              </a:rPr>
              <a:t>großes</a:t>
            </a:r>
            <a:r>
              <a:rPr lang="en-US">
                <a:cs typeface="Calibri"/>
              </a:rPr>
              <a:t> </a:t>
            </a:r>
            <a:r>
              <a:rPr lang="en-US" err="1">
                <a:cs typeface="Calibri"/>
              </a:rPr>
              <a:t>Sechseck</a:t>
            </a:r>
            <a:r>
              <a:rPr lang="en-US">
                <a:cs typeface="Calibri"/>
              </a:rPr>
              <a:t>, welches die Map </a:t>
            </a:r>
            <a:r>
              <a:rPr lang="en-US" err="1">
                <a:cs typeface="Calibri"/>
              </a:rPr>
              <a:t>darstellt</a:t>
            </a:r>
            <a:endParaRPr lang="en-US">
              <a:cs typeface="Calibri"/>
            </a:endParaRPr>
          </a:p>
          <a:p>
            <a:r>
              <a:rPr lang="en-US" err="1">
                <a:cs typeface="Calibri"/>
              </a:rPr>
              <a:t>Jedes</a:t>
            </a:r>
            <a:r>
              <a:rPr lang="en-US">
                <a:cs typeface="Calibri"/>
              </a:rPr>
              <a:t> </a:t>
            </a:r>
            <a:r>
              <a:rPr lang="en-US" err="1">
                <a:cs typeface="Calibri"/>
              </a:rPr>
              <a:t>Sechseck</a:t>
            </a:r>
            <a:r>
              <a:rPr lang="en-US">
                <a:cs typeface="Calibri"/>
              </a:rPr>
              <a:t> </a:t>
            </a:r>
            <a:r>
              <a:rPr lang="en-US" err="1">
                <a:cs typeface="Calibri"/>
              </a:rPr>
              <a:t>ist</a:t>
            </a:r>
            <a:r>
              <a:rPr lang="en-US">
                <a:cs typeface="Calibri"/>
              </a:rPr>
              <a:t> </a:t>
            </a:r>
            <a:r>
              <a:rPr lang="en-US" err="1">
                <a:cs typeface="Calibri"/>
              </a:rPr>
              <a:t>ein</a:t>
            </a:r>
            <a:r>
              <a:rPr lang="en-US">
                <a:cs typeface="Calibri"/>
              </a:rPr>
              <a:t> </a:t>
            </a:r>
            <a:r>
              <a:rPr lang="en-US" err="1">
                <a:cs typeface="Calibri"/>
              </a:rPr>
              <a:t>bebaubares</a:t>
            </a:r>
            <a:r>
              <a:rPr lang="en-US">
                <a:cs typeface="Calibri"/>
              </a:rPr>
              <a:t> </a:t>
            </a:r>
            <a:r>
              <a:rPr lang="en-US" err="1">
                <a:cs typeface="Calibri"/>
              </a:rPr>
              <a:t>Spielfeld</a:t>
            </a:r>
            <a:endParaRPr lang="en-US">
              <a:cs typeface="Calibri"/>
            </a:endParaRPr>
          </a:p>
          <a:p>
            <a:r>
              <a:rPr lang="en-US">
                <a:cs typeface="Calibri"/>
              </a:rPr>
              <a:t>Die </a:t>
            </a:r>
            <a:r>
              <a:rPr lang="en-US" err="1">
                <a:cs typeface="Calibri"/>
              </a:rPr>
              <a:t>Sechsecke</a:t>
            </a:r>
            <a:r>
              <a:rPr lang="en-US">
                <a:cs typeface="Calibri"/>
              </a:rPr>
              <a:t> </a:t>
            </a:r>
            <a:r>
              <a:rPr lang="en-US" err="1">
                <a:cs typeface="Calibri"/>
              </a:rPr>
              <a:t>sehen</a:t>
            </a:r>
            <a:r>
              <a:rPr lang="en-US">
                <a:cs typeface="Calibri"/>
              </a:rPr>
              <a:t> </a:t>
            </a:r>
            <a:r>
              <a:rPr lang="en-US" err="1">
                <a:cs typeface="Calibri"/>
              </a:rPr>
              <a:t>aus</a:t>
            </a:r>
            <a:r>
              <a:rPr lang="en-US">
                <a:cs typeface="Calibri"/>
              </a:rPr>
              <a:t> </a:t>
            </a:r>
            <a:r>
              <a:rPr lang="en-US" err="1">
                <a:cs typeface="Calibri"/>
              </a:rPr>
              <a:t>wie</a:t>
            </a:r>
            <a:r>
              <a:rPr lang="en-US">
                <a:cs typeface="Calibri"/>
              </a:rPr>
              <a:t> das </a:t>
            </a:r>
            <a:r>
              <a:rPr lang="en-US" err="1">
                <a:cs typeface="Calibri"/>
              </a:rPr>
              <a:t>Strahlenwarnzeichen</a:t>
            </a:r>
            <a:r>
              <a:rPr lang="en-US">
                <a:cs typeface="Calibri"/>
              </a:rPr>
              <a:t>. Daher </a:t>
            </a:r>
            <a:r>
              <a:rPr lang="en-US" err="1">
                <a:cs typeface="Calibri"/>
              </a:rPr>
              <a:t>kommt</a:t>
            </a:r>
            <a:r>
              <a:rPr lang="en-US">
                <a:cs typeface="Calibri"/>
              </a:rPr>
              <a:t> der </a:t>
            </a:r>
            <a:r>
              <a:rPr lang="en-US" err="1">
                <a:cs typeface="Calibri"/>
              </a:rPr>
              <a:t>Spielname</a:t>
            </a:r>
            <a:r>
              <a:rPr lang="en-US">
                <a:cs typeface="Calibri"/>
              </a:rPr>
              <a:t>.</a:t>
            </a:r>
          </a:p>
          <a:p>
            <a:pPr marL="0" indent="0">
              <a:buNone/>
            </a:pPr>
            <a:endParaRPr lang="en-US">
              <a:cs typeface="Calibri"/>
            </a:endParaRPr>
          </a:p>
        </p:txBody>
      </p:sp>
      <p:sp>
        <p:nvSpPr>
          <p:cNvPr id="17" name="Oval 16">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Grafik 11">
            <a:extLst>
              <a:ext uri="{FF2B5EF4-FFF2-40B4-BE49-F238E27FC236}">
                <a16:creationId xmlns:a16="http://schemas.microsoft.com/office/drawing/2014/main" id="{80370488-E6CA-44B0-BDF2-4D673E151E74}"/>
              </a:ext>
            </a:extLst>
          </p:cNvPr>
          <p:cNvPicPr>
            <a:picLocks noChangeAspect="1"/>
          </p:cNvPicPr>
          <p:nvPr/>
        </p:nvPicPr>
        <p:blipFill rotWithShape="1">
          <a:blip r:embed="rId2"/>
          <a:srcRect t="2005" r="1" b="1736"/>
          <a:stretch/>
        </p:blipFill>
        <p:spPr>
          <a:xfrm>
            <a:off x="7901259" y="2727729"/>
            <a:ext cx="4290741" cy="4130271"/>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
        <p:nvSpPr>
          <p:cNvPr id="19" name="Arc 18">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 name="Grafik 4" descr="Ein Bild, das Visitenkarte, Umschlag enthält.&#10;&#10;Beschreibung automatisch generiert.">
            <a:extLst>
              <a:ext uri="{FF2B5EF4-FFF2-40B4-BE49-F238E27FC236}">
                <a16:creationId xmlns:a16="http://schemas.microsoft.com/office/drawing/2014/main" id="{22A0FE2F-E522-4245-96C1-015F9F2D5049}"/>
              </a:ext>
            </a:extLst>
          </p:cNvPr>
          <p:cNvPicPr>
            <a:picLocks noChangeAspect="1"/>
          </p:cNvPicPr>
          <p:nvPr/>
        </p:nvPicPr>
        <p:blipFill rotWithShape="1">
          <a:blip r:embed="rId3"/>
          <a:srcRect t="6319" r="-1" b="6177"/>
          <a:stretch/>
        </p:blipFill>
        <p:spPr>
          <a:xfrm>
            <a:off x="6261607" y="1"/>
            <a:ext cx="3519312" cy="3007909"/>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p:spPr>
      </p:pic>
    </p:spTree>
    <p:extLst>
      <p:ext uri="{BB962C8B-B14F-4D97-AF65-F5344CB8AC3E}">
        <p14:creationId xmlns:p14="http://schemas.microsoft.com/office/powerpoint/2010/main" val="2423034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AADA2A0F-6F8A-4D80-8882-4F5FFCF20D2B}"/>
              </a:ext>
            </a:extLst>
          </p:cNvPr>
          <p:cNvSpPr>
            <a:spLocks noGrp="1"/>
          </p:cNvSpPr>
          <p:nvPr>
            <p:ph type="title"/>
          </p:nvPr>
        </p:nvSpPr>
        <p:spPr>
          <a:xfrm>
            <a:off x="686834" y="1153572"/>
            <a:ext cx="3200400" cy="4461163"/>
          </a:xfrm>
        </p:spPr>
        <p:txBody>
          <a:bodyPr>
            <a:normAutofit/>
          </a:bodyPr>
          <a:lstStyle/>
          <a:p>
            <a:r>
              <a:rPr lang="de-DE" u="sng">
                <a:solidFill>
                  <a:srgbClr val="FFFFFF"/>
                </a:solidFill>
                <a:ea typeface="+mj-lt"/>
                <a:cs typeface="+mj-lt"/>
              </a:rPr>
              <a:t>Bausystem in Javascript</a:t>
            </a:r>
            <a:endParaRPr lang="de-DE">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Inhaltsplatzhalter 2">
            <a:extLst>
              <a:ext uri="{FF2B5EF4-FFF2-40B4-BE49-F238E27FC236}">
                <a16:creationId xmlns:a16="http://schemas.microsoft.com/office/drawing/2014/main" id="{AFC7FD30-1A4E-4F54-A107-F9C8E523F036}"/>
              </a:ext>
            </a:extLst>
          </p:cNvPr>
          <p:cNvSpPr>
            <a:spLocks noGrp="1"/>
          </p:cNvSpPr>
          <p:nvPr>
            <p:ph idx="1"/>
          </p:nvPr>
        </p:nvSpPr>
        <p:spPr>
          <a:xfrm>
            <a:off x="4447308" y="591344"/>
            <a:ext cx="6906491" cy="5585619"/>
          </a:xfrm>
        </p:spPr>
        <p:txBody>
          <a:bodyPr vert="horz" lIns="91440" tIns="45720" rIns="91440" bIns="45720" rtlCol="0" anchor="ctr">
            <a:normAutofit fontScale="92500" lnSpcReduction="10000"/>
          </a:bodyPr>
          <a:lstStyle/>
          <a:p>
            <a:r>
              <a:rPr lang="de-DE">
                <a:ea typeface="+mn-lt"/>
                <a:cs typeface="+mn-lt"/>
              </a:rPr>
              <a:t>Jedem Sechseck wird eine eindeutige ID zugewiesen, um es im Code anzusteuern. Die ID setzt sich aus der Reihe und der Nummer des Sechsecks zusammen.</a:t>
            </a:r>
            <a:endParaRPr lang="en-US">
              <a:ea typeface="+mn-lt"/>
              <a:cs typeface="+mn-lt"/>
            </a:endParaRPr>
          </a:p>
          <a:p>
            <a:r>
              <a:rPr lang="de-DE">
                <a:ea typeface="+mn-lt"/>
                <a:cs typeface="+mn-lt"/>
              </a:rPr>
              <a:t>Jedes Sechseck besitzt einen Click-</a:t>
            </a:r>
            <a:r>
              <a:rPr lang="de-DE" err="1">
                <a:ea typeface="+mn-lt"/>
                <a:cs typeface="+mn-lt"/>
              </a:rPr>
              <a:t>EventListener</a:t>
            </a:r>
            <a:r>
              <a:rPr lang="de-DE">
                <a:ea typeface="+mn-lt"/>
                <a:cs typeface="+mn-lt"/>
              </a:rPr>
              <a:t>. Wenn ein Sechseck nun angeklickt wird, wird überprüft welcher Baumodus aktiv ist(siehe Folie 2_2_1). Der Baumodus wird durch die untere Leiste im Spiel bestimmt.</a:t>
            </a:r>
          </a:p>
          <a:p>
            <a:r>
              <a:rPr lang="de-DE">
                <a:cs typeface="Calibri"/>
              </a:rPr>
              <a:t>Die ID des Sechseck wird bei Klick an die jeweilige Baufunktion als Parameter weitergegeben. Diese Baufunktion spawnt nun auf dem Feld mit vorher übergegebenen ID das vorher vom Spieler ausgewählte Gebäude</a:t>
            </a:r>
          </a:p>
          <a:p>
            <a:endParaRPr lang="de-DE">
              <a:cs typeface="Calibri"/>
            </a:endParaRPr>
          </a:p>
        </p:txBody>
      </p:sp>
    </p:spTree>
    <p:extLst>
      <p:ext uri="{BB962C8B-B14F-4D97-AF65-F5344CB8AC3E}">
        <p14:creationId xmlns:p14="http://schemas.microsoft.com/office/powerpoint/2010/main" val="698621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64D464-898B-4908-88FD-33A83D6ED6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48E3895E-B323-4594-B941-8484F078EC6E}"/>
              </a:ext>
            </a:extLst>
          </p:cNvPr>
          <p:cNvSpPr>
            <a:spLocks noGrp="1"/>
          </p:cNvSpPr>
          <p:nvPr>
            <p:ph type="title"/>
          </p:nvPr>
        </p:nvSpPr>
        <p:spPr>
          <a:xfrm>
            <a:off x="838200" y="365126"/>
            <a:ext cx="9808597" cy="1146176"/>
          </a:xfrm>
        </p:spPr>
        <p:txBody>
          <a:bodyPr>
            <a:normAutofit/>
          </a:bodyPr>
          <a:lstStyle/>
          <a:p>
            <a:r>
              <a:rPr lang="de-DE" sz="4100" u="sng">
                <a:solidFill>
                  <a:schemeClr val="bg1"/>
                </a:solidFill>
                <a:cs typeface="Calibri Light"/>
              </a:rPr>
              <a:t>Wie erschafft man Gebäude / Objekte in JS?</a:t>
            </a:r>
            <a:endParaRPr lang="de-DE" sz="4100">
              <a:solidFill>
                <a:schemeClr val="bg1"/>
              </a:solidFill>
              <a:cs typeface="Calibri Light" panose="020F0302020204030204"/>
            </a:endParaRPr>
          </a:p>
        </p:txBody>
      </p:sp>
      <p:sp>
        <p:nvSpPr>
          <p:cNvPr id="10" name="Freeform: Shape 9">
            <a:extLst>
              <a:ext uri="{FF2B5EF4-FFF2-40B4-BE49-F238E27FC236}">
                <a16:creationId xmlns:a16="http://schemas.microsoft.com/office/drawing/2014/main" id="{F0BC1D9E-4401-4EC0-88FD-ED103CB57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0670" y="2"/>
            <a:ext cx="1191330" cy="1511301"/>
          </a:xfrm>
          <a:custGeom>
            <a:avLst/>
            <a:gdLst>
              <a:gd name="connsiteX0" fmla="*/ 697617 w 1191330"/>
              <a:gd name="connsiteY0" fmla="*/ 0 h 1511301"/>
              <a:gd name="connsiteX1" fmla="*/ 1191330 w 1191330"/>
              <a:gd name="connsiteY1" fmla="*/ 0 h 1511301"/>
              <a:gd name="connsiteX2" fmla="*/ 1191330 w 1191330"/>
              <a:gd name="connsiteY2" fmla="*/ 1511301 h 1511301"/>
              <a:gd name="connsiteX3" fmla="*/ 0 w 1191330"/>
              <a:gd name="connsiteY3" fmla="*/ 1511301 h 1511301"/>
            </a:gdLst>
            <a:ahLst/>
            <a:cxnLst>
              <a:cxn ang="0">
                <a:pos x="connsiteX0" y="connsiteY0"/>
              </a:cxn>
              <a:cxn ang="0">
                <a:pos x="connsiteX1" y="connsiteY1"/>
              </a:cxn>
              <a:cxn ang="0">
                <a:pos x="connsiteX2" y="connsiteY2"/>
              </a:cxn>
              <a:cxn ang="0">
                <a:pos x="connsiteX3" y="connsiteY3"/>
              </a:cxn>
            </a:cxnLst>
            <a:rect l="l" t="t" r="r" b="b"/>
            <a:pathLst>
              <a:path w="1191330" h="1511301">
                <a:moveTo>
                  <a:pt x="697617" y="0"/>
                </a:moveTo>
                <a:lnTo>
                  <a:pt x="1191330" y="0"/>
                </a:lnTo>
                <a:lnTo>
                  <a:pt x="1191330" y="1511301"/>
                </a:lnTo>
                <a:lnTo>
                  <a:pt x="0" y="1511301"/>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Freeform: Shape 11">
            <a:extLst>
              <a:ext uri="{FF2B5EF4-FFF2-40B4-BE49-F238E27FC236}">
                <a16:creationId xmlns:a16="http://schemas.microsoft.com/office/drawing/2014/main" id="{B0AAF7C9-094E-400C-A428-F6C2262F6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0688"/>
            <a:ext cx="10753320" cy="5167312"/>
          </a:xfrm>
          <a:custGeom>
            <a:avLst/>
            <a:gdLst>
              <a:gd name="connsiteX0" fmla="*/ 0 w 10753320"/>
              <a:gd name="connsiteY0" fmla="*/ 0 h 5167312"/>
              <a:gd name="connsiteX1" fmla="*/ 9680943 w 10753320"/>
              <a:gd name="connsiteY1" fmla="*/ 0 h 5167312"/>
              <a:gd name="connsiteX2" fmla="*/ 9680223 w 10753320"/>
              <a:gd name="connsiteY2" fmla="*/ 952 h 5167312"/>
              <a:gd name="connsiteX3" fmla="*/ 10753320 w 10753320"/>
              <a:gd name="connsiteY3" fmla="*/ 952 h 5167312"/>
              <a:gd name="connsiteX4" fmla="*/ 8359441 w 10753320"/>
              <a:gd name="connsiteY4" fmla="*/ 5167312 h 5167312"/>
              <a:gd name="connsiteX5" fmla="*/ 4821866 w 10753320"/>
              <a:gd name="connsiteY5" fmla="*/ 5167312 h 5167312"/>
              <a:gd name="connsiteX6" fmla="*/ 4821866 w 10753320"/>
              <a:gd name="connsiteY6" fmla="*/ 5166360 h 5167312"/>
              <a:gd name="connsiteX7" fmla="*/ 0 w 10753320"/>
              <a:gd name="connsiteY7" fmla="*/ 5166360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53320" h="5167312">
                <a:moveTo>
                  <a:pt x="0" y="0"/>
                </a:moveTo>
                <a:lnTo>
                  <a:pt x="9680943" y="0"/>
                </a:lnTo>
                <a:lnTo>
                  <a:pt x="9680223" y="952"/>
                </a:lnTo>
                <a:lnTo>
                  <a:pt x="10753320" y="952"/>
                </a:lnTo>
                <a:lnTo>
                  <a:pt x="8359441" y="5167312"/>
                </a:lnTo>
                <a:lnTo>
                  <a:pt x="4821866" y="5167312"/>
                </a:lnTo>
                <a:lnTo>
                  <a:pt x="4821866" y="5166360"/>
                </a:lnTo>
                <a:lnTo>
                  <a:pt x="0" y="516636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Inhaltsplatzhalter 2">
            <a:extLst>
              <a:ext uri="{FF2B5EF4-FFF2-40B4-BE49-F238E27FC236}">
                <a16:creationId xmlns:a16="http://schemas.microsoft.com/office/drawing/2014/main" id="{24FAFECD-15CE-479A-99BE-5DF8AC9EF732}"/>
              </a:ext>
            </a:extLst>
          </p:cNvPr>
          <p:cNvSpPr>
            <a:spLocks noGrp="1"/>
          </p:cNvSpPr>
          <p:nvPr>
            <p:ph idx="1"/>
          </p:nvPr>
        </p:nvSpPr>
        <p:spPr>
          <a:xfrm>
            <a:off x="838201" y="2055811"/>
            <a:ext cx="7315200" cy="4121152"/>
          </a:xfrm>
        </p:spPr>
        <p:txBody>
          <a:bodyPr vert="horz" lIns="91440" tIns="45720" rIns="91440" bIns="45720" rtlCol="0">
            <a:normAutofit/>
          </a:bodyPr>
          <a:lstStyle/>
          <a:p>
            <a:r>
              <a:rPr lang="de-DE" sz="2000">
                <a:cs typeface="Calibri"/>
              </a:rPr>
              <a:t>Kurz: </a:t>
            </a:r>
            <a:r>
              <a:rPr lang="de-DE" sz="2000">
                <a:ea typeface="+mn-lt"/>
                <a:cs typeface="+mn-lt"/>
              </a:rPr>
              <a:t>var div =</a:t>
            </a:r>
            <a:r>
              <a:rPr lang="de-DE" sz="2000">
                <a:cs typeface="Calibri"/>
              </a:rPr>
              <a:t> document.createElement("DIV"). Mit diesem Ausdruck erschafft man ein div Element und speichert es als Variable. </a:t>
            </a:r>
            <a:endParaRPr lang="de-DE" sz="2000"/>
          </a:p>
          <a:p>
            <a:r>
              <a:rPr lang="de-DE" sz="2000">
                <a:cs typeface="Calibri"/>
              </a:rPr>
              <a:t>Damit es aber auch im Spiel sichtbar ist muss man spezifizieren wo es erstellt werden soll. Das geht wie folgt: </a:t>
            </a:r>
            <a:r>
              <a:rPr lang="de-DE" sz="2000">
                <a:ea typeface="+mn-lt"/>
                <a:cs typeface="+mn-lt"/>
              </a:rPr>
              <a:t>document.getElementById("spielfeld").appendChild(div). Hier wird das eben erstellte div zum Child von "spielfeld" gemacht.</a:t>
            </a:r>
            <a:endParaRPr lang="de-DE" sz="2000"/>
          </a:p>
          <a:p>
            <a:r>
              <a:rPr lang="de-DE" sz="2000">
                <a:ea typeface="+mn-lt"/>
                <a:cs typeface="+mn-lt"/>
              </a:rPr>
              <a:t>Zuletzt weist man dem Element eine id oder eine class zu um es in CSS zu styleisen.    </a:t>
            </a:r>
          </a:p>
          <a:p>
            <a:r>
              <a:rPr lang="de-DE" sz="2000">
                <a:ea typeface="+mn-lt"/>
                <a:cs typeface="+mn-lt"/>
              </a:rPr>
              <a:t>Id: div.id = "div_Beispiel"    </a:t>
            </a:r>
          </a:p>
          <a:p>
            <a:r>
              <a:rPr lang="de-DE" sz="2000">
                <a:ea typeface="+mn-lt"/>
                <a:cs typeface="+mn-lt"/>
              </a:rPr>
              <a:t>Class: div.classList.add("div_Beispiel");</a:t>
            </a:r>
            <a:endParaRPr lang="de-DE" sz="2000"/>
          </a:p>
          <a:p>
            <a:endParaRPr lang="de-DE" sz="2000">
              <a:ea typeface="+mn-lt"/>
              <a:cs typeface="+mn-lt"/>
            </a:endParaRPr>
          </a:p>
        </p:txBody>
      </p:sp>
      <p:sp>
        <p:nvSpPr>
          <p:cNvPr id="14" name="Freeform: Shape 13">
            <a:extLst>
              <a:ext uri="{FF2B5EF4-FFF2-40B4-BE49-F238E27FC236}">
                <a16:creationId xmlns:a16="http://schemas.microsoft.com/office/drawing/2014/main" id="{6200B311-3585-4069-AAC6-CD443FA5B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3986" y="1690688"/>
            <a:ext cx="3668014" cy="5167312"/>
          </a:xfrm>
          <a:custGeom>
            <a:avLst/>
            <a:gdLst>
              <a:gd name="connsiteX0" fmla="*/ 2391664 w 3668014"/>
              <a:gd name="connsiteY0" fmla="*/ 0 h 5167312"/>
              <a:gd name="connsiteX1" fmla="*/ 3668014 w 3668014"/>
              <a:gd name="connsiteY1" fmla="*/ 0 h 5167312"/>
              <a:gd name="connsiteX2" fmla="*/ 3668014 w 3668014"/>
              <a:gd name="connsiteY2" fmla="*/ 5167312 h 5167312"/>
              <a:gd name="connsiteX3" fmla="*/ 0 w 3668014"/>
              <a:gd name="connsiteY3" fmla="*/ 5167312 h 5167312"/>
              <a:gd name="connsiteX4" fmla="*/ 2393879 w 3668014"/>
              <a:gd name="connsiteY4" fmla="*/ 952 h 5167312"/>
              <a:gd name="connsiteX5" fmla="*/ 2391664 w 3668014"/>
              <a:gd name="connsiteY5"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68014" h="5167312">
                <a:moveTo>
                  <a:pt x="2391664" y="0"/>
                </a:moveTo>
                <a:lnTo>
                  <a:pt x="3668014" y="0"/>
                </a:lnTo>
                <a:lnTo>
                  <a:pt x="3668014" y="5167312"/>
                </a:lnTo>
                <a:lnTo>
                  <a:pt x="0" y="5167312"/>
                </a:lnTo>
                <a:lnTo>
                  <a:pt x="2393879" y="952"/>
                </a:lnTo>
                <a:lnTo>
                  <a:pt x="2391664" y="952"/>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77814927"/>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B9CB4BAB-8CFE-4318-A0D6-203F88752428}"/>
              </a:ext>
            </a:extLst>
          </p:cNvPr>
          <p:cNvSpPr>
            <a:spLocks noGrp="1"/>
          </p:cNvSpPr>
          <p:nvPr>
            <p:ph type="title"/>
          </p:nvPr>
        </p:nvSpPr>
        <p:spPr>
          <a:xfrm>
            <a:off x="826396" y="586855"/>
            <a:ext cx="4230100" cy="3387497"/>
          </a:xfrm>
        </p:spPr>
        <p:txBody>
          <a:bodyPr anchor="b">
            <a:normAutofit/>
          </a:bodyPr>
          <a:lstStyle/>
          <a:p>
            <a:pPr algn="r"/>
            <a:r>
              <a:rPr lang="de-DE" sz="4000">
                <a:solidFill>
                  <a:srgbClr val="FFFFFF"/>
                </a:solidFill>
                <a:ea typeface="+mj-lt"/>
                <a:cs typeface="+mj-lt"/>
              </a:rPr>
              <a:t>Ressourcensystem</a:t>
            </a:r>
            <a:endParaRPr lang="de-DE" sz="4000">
              <a:solidFill>
                <a:srgbClr val="FFFFFF"/>
              </a:solidFill>
            </a:endParaRPr>
          </a:p>
        </p:txBody>
      </p:sp>
      <p:sp>
        <p:nvSpPr>
          <p:cNvPr id="3" name="Inhaltsplatzhalter 2">
            <a:extLst>
              <a:ext uri="{FF2B5EF4-FFF2-40B4-BE49-F238E27FC236}">
                <a16:creationId xmlns:a16="http://schemas.microsoft.com/office/drawing/2014/main" id="{8458B3BA-CC05-4F9F-8925-D536B92C2A74}"/>
              </a:ext>
            </a:extLst>
          </p:cNvPr>
          <p:cNvSpPr>
            <a:spLocks noGrp="1"/>
          </p:cNvSpPr>
          <p:nvPr>
            <p:ph idx="1"/>
          </p:nvPr>
        </p:nvSpPr>
        <p:spPr>
          <a:xfrm>
            <a:off x="6503158" y="649480"/>
            <a:ext cx="4862447" cy="5546047"/>
          </a:xfrm>
        </p:spPr>
        <p:txBody>
          <a:bodyPr vert="horz" lIns="91440" tIns="45720" rIns="91440" bIns="45720" rtlCol="0" anchor="ctr">
            <a:normAutofit/>
          </a:bodyPr>
          <a:lstStyle/>
          <a:p>
            <a:pPr marL="0" indent="0">
              <a:buNone/>
            </a:pPr>
            <a:r>
              <a:rPr lang="de-DE" sz="2000">
                <a:ea typeface="+mn-lt"/>
                <a:cs typeface="+mn-lt"/>
              </a:rPr>
              <a:t>•Die Ressourcen sind als Variablen definiert</a:t>
            </a:r>
            <a:endParaRPr lang="de-DE" sz="2000">
              <a:cs typeface="Calibri" panose="020F0502020204030204"/>
            </a:endParaRPr>
          </a:p>
          <a:p>
            <a:pPr marL="0" indent="0">
              <a:buNone/>
            </a:pPr>
            <a:r>
              <a:rPr lang="de-DE" sz="2000">
                <a:ea typeface="+mn-lt"/>
                <a:cs typeface="+mn-lt"/>
              </a:rPr>
              <a:t>•Es werden Labels und Icons in JS definier die jede Runde abgeändert werden, sodass am oberen Bildschirmrand eine Übersicht der Ressourcen mit Bildern ist.</a:t>
            </a:r>
            <a:endParaRPr lang="de-DE" sz="2000">
              <a:cs typeface="Calibri" panose="020F0502020204030204"/>
            </a:endParaRPr>
          </a:p>
          <a:p>
            <a:pPr marL="0" indent="0">
              <a:buNone/>
            </a:pPr>
            <a:r>
              <a:rPr lang="de-DE" sz="2000">
                <a:ea typeface="+mn-lt"/>
                <a:cs typeface="+mn-lt"/>
              </a:rPr>
              <a:t>•In der endTurn Funktion werden die Ressourcen neu verrechnet.</a:t>
            </a:r>
            <a:endParaRPr lang="de-DE" sz="2000">
              <a:cs typeface="Calibri"/>
            </a:endParaRPr>
          </a:p>
          <a:p>
            <a:endParaRPr lang="de-DE" sz="2000">
              <a:cs typeface="Calibri"/>
            </a:endParaRPr>
          </a:p>
        </p:txBody>
      </p:sp>
    </p:spTree>
    <p:extLst>
      <p:ext uri="{BB962C8B-B14F-4D97-AF65-F5344CB8AC3E}">
        <p14:creationId xmlns:p14="http://schemas.microsoft.com/office/powerpoint/2010/main" val="3405646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3CD251C-A887-4D2F-925B-FC0971985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19D093C-27FB-4032-B282-42C4563F2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94548"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35EE815E-1BD3-4777-B652-6D98825BF6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290" y="681628"/>
            <a:ext cx="1128382" cy="847206"/>
            <a:chOff x="668003" y="1684057"/>
            <a:chExt cx="1128382" cy="847206"/>
          </a:xfrm>
        </p:grpSpPr>
        <p:sp>
          <p:nvSpPr>
            <p:cNvPr id="13" name="Freeform 5">
              <a:extLst>
                <a:ext uri="{FF2B5EF4-FFF2-40B4-BE49-F238E27FC236}">
                  <a16:creationId xmlns:a16="http://schemas.microsoft.com/office/drawing/2014/main" id="{E6692982-4A7D-4392-87CD-F0CD4B027D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8003" y="1935883"/>
              <a:ext cx="675351" cy="595380"/>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14" name="Freeform 5">
              <a:extLst>
                <a:ext uri="{FF2B5EF4-FFF2-40B4-BE49-F238E27FC236}">
                  <a16:creationId xmlns:a16="http://schemas.microsoft.com/office/drawing/2014/main" id="{196485F7-F277-4123-AC53-98EA4C8587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45893" y="1684057"/>
              <a:ext cx="550492" cy="485306"/>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
        <p:nvSpPr>
          <p:cNvPr id="2" name="Titel 1">
            <a:extLst>
              <a:ext uri="{FF2B5EF4-FFF2-40B4-BE49-F238E27FC236}">
                <a16:creationId xmlns:a16="http://schemas.microsoft.com/office/drawing/2014/main" id="{16FC925E-67AB-42A6-BADE-E765A0AE1760}"/>
              </a:ext>
            </a:extLst>
          </p:cNvPr>
          <p:cNvSpPr>
            <a:spLocks noGrp="1"/>
          </p:cNvSpPr>
          <p:nvPr>
            <p:ph type="title"/>
          </p:nvPr>
        </p:nvSpPr>
        <p:spPr>
          <a:xfrm>
            <a:off x="767290" y="1166932"/>
            <a:ext cx="3582073" cy="4279709"/>
          </a:xfrm>
        </p:spPr>
        <p:txBody>
          <a:bodyPr anchor="ctr">
            <a:normAutofit/>
          </a:bodyPr>
          <a:lstStyle/>
          <a:p>
            <a:r>
              <a:rPr lang="de-DE" sz="3700">
                <a:solidFill>
                  <a:schemeClr val="bg1"/>
                </a:solidFill>
                <a:ea typeface="+mj-lt"/>
                <a:cs typeface="+mj-lt"/>
              </a:rPr>
              <a:t>Rundenbasiertes Strategiespiel</a:t>
            </a:r>
            <a:endParaRPr lang="de-DE" sz="3700">
              <a:solidFill>
                <a:schemeClr val="bg1"/>
              </a:solidFill>
            </a:endParaRPr>
          </a:p>
        </p:txBody>
      </p:sp>
      <p:sp>
        <p:nvSpPr>
          <p:cNvPr id="3" name="Inhaltsplatzhalter 2">
            <a:extLst>
              <a:ext uri="{FF2B5EF4-FFF2-40B4-BE49-F238E27FC236}">
                <a16:creationId xmlns:a16="http://schemas.microsoft.com/office/drawing/2014/main" id="{4974AF5F-2828-422F-B5FC-5C0B65126FB7}"/>
              </a:ext>
            </a:extLst>
          </p:cNvPr>
          <p:cNvSpPr>
            <a:spLocks noGrp="1"/>
          </p:cNvSpPr>
          <p:nvPr>
            <p:ph idx="1"/>
          </p:nvPr>
        </p:nvSpPr>
        <p:spPr>
          <a:xfrm>
            <a:off x="5573864" y="1166933"/>
            <a:ext cx="5716988" cy="4279709"/>
          </a:xfrm>
        </p:spPr>
        <p:txBody>
          <a:bodyPr vert="horz" lIns="91440" tIns="45720" rIns="91440" bIns="45720" rtlCol="0" anchor="ctr">
            <a:normAutofit/>
          </a:bodyPr>
          <a:lstStyle/>
          <a:p>
            <a:pPr marL="0" indent="0">
              <a:buNone/>
            </a:pPr>
            <a:r>
              <a:rPr lang="de-DE" sz="2400">
                <a:ea typeface="+mn-lt"/>
                <a:cs typeface="+mn-lt"/>
              </a:rPr>
              <a:t>•Das Spiel ist in Runden aufgebaut</a:t>
            </a:r>
            <a:endParaRPr lang="de-DE" sz="2400">
              <a:cs typeface="Calibri" panose="020F0502020204030204"/>
            </a:endParaRPr>
          </a:p>
          <a:p>
            <a:pPr marL="0" indent="0">
              <a:buNone/>
            </a:pPr>
            <a:r>
              <a:rPr lang="de-DE" sz="2400">
                <a:ea typeface="+mn-lt"/>
                <a:cs typeface="+mn-lt"/>
              </a:rPr>
              <a:t>•Jede Runde wird die Ressourcenveränderung berechnet.</a:t>
            </a:r>
            <a:endParaRPr lang="de-DE" sz="2400">
              <a:cs typeface="Calibri" panose="020F0502020204030204"/>
            </a:endParaRPr>
          </a:p>
          <a:p>
            <a:pPr marL="0" indent="0">
              <a:buNone/>
            </a:pPr>
            <a:r>
              <a:rPr lang="de-DE" sz="2400">
                <a:ea typeface="+mn-lt"/>
                <a:cs typeface="+mn-lt"/>
              </a:rPr>
              <a:t>•Das Spiel ist sozusagen jederzeit pausiert und berechnet nur bei Abruf der endTurn Funktion das Spielgeschehen.</a:t>
            </a:r>
            <a:endParaRPr lang="de-DE" sz="2400">
              <a:cs typeface="Calibri" panose="020F0502020204030204"/>
            </a:endParaRPr>
          </a:p>
          <a:p>
            <a:pPr marL="0" indent="0">
              <a:buNone/>
            </a:pPr>
            <a:r>
              <a:rPr lang="de-DE" sz="2400">
                <a:ea typeface="+mn-lt"/>
                <a:cs typeface="+mn-lt"/>
              </a:rPr>
              <a:t>•Im Vergleich zum Echtzeit Strategiespiel (RTS) kann man sich für seine Entscheidungen solange Zeit lassen wie man will, solange das Spiel keine Zeitbegrenzung für Runden eingeführt hat.</a:t>
            </a:r>
            <a:endParaRPr lang="de-DE" sz="2400">
              <a:cs typeface="Calibri"/>
            </a:endParaRPr>
          </a:p>
          <a:p>
            <a:endParaRPr lang="de-DE" sz="2400">
              <a:cs typeface="Calibri"/>
            </a:endParaRPr>
          </a:p>
        </p:txBody>
      </p:sp>
    </p:spTree>
    <p:extLst>
      <p:ext uri="{BB962C8B-B14F-4D97-AF65-F5344CB8AC3E}">
        <p14:creationId xmlns:p14="http://schemas.microsoft.com/office/powerpoint/2010/main" val="948917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394AE844-B998-4ED9-8F65-B1F21E387236}"/>
              </a:ext>
            </a:extLst>
          </p:cNvPr>
          <p:cNvSpPr>
            <a:spLocks noGrp="1"/>
          </p:cNvSpPr>
          <p:nvPr>
            <p:ph type="title"/>
          </p:nvPr>
        </p:nvSpPr>
        <p:spPr>
          <a:xfrm>
            <a:off x="635000" y="640823"/>
            <a:ext cx="3418659" cy="5583148"/>
          </a:xfrm>
        </p:spPr>
        <p:txBody>
          <a:bodyPr anchor="ctr">
            <a:normAutofit/>
          </a:bodyPr>
          <a:lstStyle/>
          <a:p>
            <a:r>
              <a:rPr lang="de-DE" sz="5400">
                <a:ea typeface="+mj-lt"/>
                <a:cs typeface="+mj-lt"/>
              </a:rPr>
              <a:t>Inspiration</a:t>
            </a:r>
            <a:endParaRPr lang="de-DE" sz="5400"/>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Inhaltsplatzhalter 2">
            <a:extLst>
              <a:ext uri="{FF2B5EF4-FFF2-40B4-BE49-F238E27FC236}">
                <a16:creationId xmlns:a16="http://schemas.microsoft.com/office/drawing/2014/main" id="{3843C306-AE6C-4132-B2C1-25CE50394A79}"/>
              </a:ext>
            </a:extLst>
          </p:cNvPr>
          <p:cNvGraphicFramePr>
            <a:graphicFrameLocks noGrp="1"/>
          </p:cNvGraphicFramePr>
          <p:nvPr>
            <p:ph idx="1"/>
            <p:extLst>
              <p:ext uri="{D42A27DB-BD31-4B8C-83A1-F6EECF244321}">
                <p14:modId xmlns:p14="http://schemas.microsoft.com/office/powerpoint/2010/main" val="3921660385"/>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6433074"/>
      </p:ext>
    </p:extLst>
  </p:cSld>
  <p:clrMapOvr>
    <a:masterClrMapping/>
  </p:clrMapOvr>
</p:sld>
</file>

<file path=ppt/theme/theme1.xml><?xml version="1.0" encoding="utf-8"?>
<a:theme xmlns:a="http://schemas.openxmlformats.org/drawingml/2006/main" name="Larissa">
  <a:themeElements>
    <a:clrScheme name="Lariss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Larissa">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Breitbild</PresentationFormat>
  <Slides>7</Slides>
  <Notes>0</Notes>
  <HiddenSlides>0</HiddenSlides>
  <ScaleCrop>false</ScaleCrop>
  <HeadingPairs>
    <vt:vector size="4" baseType="variant">
      <vt:variant>
        <vt:lpstr>Design</vt:lpstr>
      </vt:variant>
      <vt:variant>
        <vt:i4>1</vt:i4>
      </vt:variant>
      <vt:variant>
        <vt:lpstr>Folientitel</vt:lpstr>
      </vt:variant>
      <vt:variant>
        <vt:i4>7</vt:i4>
      </vt:variant>
    </vt:vector>
  </HeadingPairs>
  <TitlesOfParts>
    <vt:vector size="8" baseType="lpstr">
      <vt:lpstr>Larissa</vt:lpstr>
      <vt:lpstr>Nuklear Strike</vt:lpstr>
      <vt:lpstr>Mapdesign</vt:lpstr>
      <vt:lpstr>Bausystem in Javascript</vt:lpstr>
      <vt:lpstr>Wie erschafft man Gebäude / Objekte in JS?</vt:lpstr>
      <vt:lpstr>Ressourcensystem</vt:lpstr>
      <vt:lpstr>Rundenbasiertes Strategiespiel</vt:lpstr>
      <vt:lpstr>Inspiration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
  <cp:revision>18</cp:revision>
  <dcterms:created xsi:type="dcterms:W3CDTF">2022-01-17T04:33:00Z</dcterms:created>
  <dcterms:modified xsi:type="dcterms:W3CDTF">2022-01-18T09:08:59Z</dcterms:modified>
</cp:coreProperties>
</file>